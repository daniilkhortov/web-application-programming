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</p:sldIdLst>
  <p:sldSz cx="9144000" cy="5143500" type="screen16x9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701" y="-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ий слайд">
    <p:bg>
      <p:bgPr>
        <a:solidFill>
          <a:srgbClr val="1B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КПИ\works\_ДНВР\Брендбук КПИ\Ресурс 3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42219" y="3598188"/>
            <a:ext cx="2625925" cy="1493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2482691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(варіант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="" xmlns:a16="http://schemas.microsoft.com/office/drawing/2014/main" id="{CD0114C3-B8CB-41F7-B04D-BDF53C237570}"/>
              </a:ext>
            </a:extLst>
          </p:cNvPr>
          <p:cNvSpPr/>
          <p:nvPr/>
        </p:nvSpPr>
        <p:spPr>
          <a:xfrm>
            <a:off x="0" y="4611944"/>
            <a:ext cx="9144000" cy="531557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uk-UA"/>
          </a:p>
        </p:txBody>
      </p:sp>
      <p:sp>
        <p:nvSpPr>
          <p:cNvPr id="5" name="Місце для тексту 8">
            <a:extLst>
              <a:ext uri="{FF2B5EF4-FFF2-40B4-BE49-F238E27FC236}">
                <a16:creationId xmlns="" xmlns:a16="http://schemas.microsoft.com/office/drawing/2014/main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4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6" y="1040329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4" y="1494333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F5677773-CACD-4264-8FC3-1F34482548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5778" y="4676873"/>
            <a:ext cx="297696" cy="3982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15EB4B-6CCC-4BD0-82C7-3B4BE67B3336}"/>
              </a:ext>
            </a:extLst>
          </p:cNvPr>
          <p:cNvSpPr txBox="1"/>
          <p:nvPr/>
        </p:nvSpPr>
        <p:spPr>
          <a:xfrm>
            <a:off x="672641" y="4714418"/>
            <a:ext cx="3180999" cy="315471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uk-UA" sz="800" b="1" dirty="0">
                <a:solidFill>
                  <a:schemeClr val="bg1"/>
                </a:solidFill>
                <a:latin typeface="Exo 2" panose="00000500000000000000" pitchFamily="2" charset="-52"/>
              </a:rPr>
              <a:t>Національний технічний університет України</a:t>
            </a:r>
            <a:r>
              <a:rPr lang="en-US" sz="800" b="1" dirty="0">
                <a:solidFill>
                  <a:schemeClr val="bg1"/>
                </a:solidFill>
                <a:latin typeface="Exo 2" panose="00000500000000000000" pitchFamily="2" charset="-52"/>
              </a:rPr>
              <a:t/>
            </a:r>
            <a:br>
              <a:rPr lang="en-US" sz="800" b="1" dirty="0">
                <a:solidFill>
                  <a:schemeClr val="bg1"/>
                </a:solidFill>
                <a:latin typeface="Exo 2" panose="00000500000000000000" pitchFamily="2" charset="-52"/>
              </a:rPr>
            </a:br>
            <a:r>
              <a:rPr lang="uk-UA" sz="800" b="1" dirty="0">
                <a:solidFill>
                  <a:schemeClr val="bg1"/>
                </a:solidFill>
                <a:latin typeface="Exo 2" panose="00000500000000000000" pitchFamily="2" charset="-52"/>
              </a:rPr>
              <a:t>«Київський політехнічний інститут імені Ігоря Сікорського»</a:t>
            </a:r>
            <a:endParaRPr lang="uk-UA" sz="800" dirty="0"/>
          </a:p>
        </p:txBody>
      </p:sp>
    </p:spTree>
    <p:extLst>
      <p:ext uri="{BB962C8B-B14F-4D97-AF65-F5344CB8AC3E}">
        <p14:creationId xmlns:p14="http://schemas.microsoft.com/office/powerpoint/2010/main" xmlns="" val="2875744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(варіант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="" xmlns:a16="http://schemas.microsoft.com/office/drawing/2014/main" id="{CD0114C3-B8CB-41F7-B04D-BDF53C237570}"/>
              </a:ext>
            </a:extLst>
          </p:cNvPr>
          <p:cNvSpPr/>
          <p:nvPr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uk-UA"/>
          </a:p>
        </p:txBody>
      </p:sp>
      <p:sp>
        <p:nvSpPr>
          <p:cNvPr id="5" name="Місце для тексту 8">
            <a:extLst>
              <a:ext uri="{FF2B5EF4-FFF2-40B4-BE49-F238E27FC236}">
                <a16:creationId xmlns="" xmlns:a16="http://schemas.microsoft.com/office/drawing/2014/main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4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6" y="1040329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4" y="1494333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15EB4B-6CCC-4BD0-82C7-3B4BE67B3336}"/>
              </a:ext>
            </a:extLst>
          </p:cNvPr>
          <p:cNvSpPr txBox="1"/>
          <p:nvPr/>
        </p:nvSpPr>
        <p:spPr>
          <a:xfrm>
            <a:off x="921412" y="4818325"/>
            <a:ext cx="7288391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uk-UA" sz="900" b="1" dirty="0">
                <a:solidFill>
                  <a:schemeClr val="bg1"/>
                </a:solidFill>
                <a:latin typeface="Exo 2" panose="00000500000000000000" pitchFamily="2" charset="-52"/>
              </a:rPr>
              <a:t>Національний технічний університет </a:t>
            </a:r>
            <a:r>
              <a:rPr lang="uk-UA" sz="900" b="1" dirty="0" smtClean="0">
                <a:solidFill>
                  <a:schemeClr val="bg1"/>
                </a:solidFill>
                <a:latin typeface="Exo 2" panose="00000500000000000000" pitchFamily="2" charset="-52"/>
              </a:rPr>
              <a:t>України «Київський </a:t>
            </a:r>
            <a:r>
              <a:rPr lang="uk-UA" sz="900" b="1" dirty="0">
                <a:solidFill>
                  <a:schemeClr val="bg1"/>
                </a:solidFill>
                <a:latin typeface="Exo 2" panose="00000500000000000000" pitchFamily="2" charset="-52"/>
              </a:rPr>
              <a:t>політехнічний інститут імені Ігоря Сікорського»</a:t>
            </a:r>
            <a:endParaRPr lang="uk-UA" sz="9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86876A61-F7D5-4266-8A3C-CCEB689246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476" y="4431572"/>
            <a:ext cx="483610" cy="64696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557609B2-75EE-43E9-961C-472E6BC6DA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0708" y="4479310"/>
            <a:ext cx="377149" cy="55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5073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(варіант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кутник 5">
            <a:extLst>
              <a:ext uri="{FF2B5EF4-FFF2-40B4-BE49-F238E27FC236}">
                <a16:creationId xmlns="" xmlns:a16="http://schemas.microsoft.com/office/drawing/2014/main" id="{CD0114C3-B8CB-41F7-B04D-BDF53C237570}"/>
              </a:ext>
            </a:extLst>
          </p:cNvPr>
          <p:cNvSpPr/>
          <p:nvPr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uk-UA"/>
          </a:p>
        </p:txBody>
      </p:sp>
      <p:sp>
        <p:nvSpPr>
          <p:cNvPr id="5" name="Місце для тексту 8">
            <a:extLst>
              <a:ext uri="{FF2B5EF4-FFF2-40B4-BE49-F238E27FC236}">
                <a16:creationId xmlns="" xmlns:a16="http://schemas.microsoft.com/office/drawing/2014/main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4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6" y="1040329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4" y="1494333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8211852" y="4425177"/>
            <a:ext cx="483610" cy="646966"/>
            <a:chOff x="8296291" y="4126103"/>
            <a:chExt cx="662832" cy="886727"/>
          </a:xfrm>
        </p:grpSpPr>
        <p:pic>
          <p:nvPicPr>
            <p:cNvPr id="9" name="Рисунок 8">
              <a:extLst>
                <a:ext uri="{FF2B5EF4-FFF2-40B4-BE49-F238E27FC236}">
                  <a16:creationId xmlns="" xmlns:a16="http://schemas.microsoft.com/office/drawing/2014/main" id="{86876A61-F7D5-4266-8A3C-CCEB689246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8296291" y="4126103"/>
              <a:ext cx="662832" cy="886727"/>
            </a:xfrm>
            <a:prstGeom prst="rect">
              <a:avLst/>
            </a:prstGeom>
          </p:spPr>
        </p:pic>
        <p:pic>
          <p:nvPicPr>
            <p:cNvPr id="12" name="Рисунок 11">
              <a:extLst>
                <a:ext uri="{FF2B5EF4-FFF2-40B4-BE49-F238E27FC236}">
                  <a16:creationId xmlns="" xmlns:a16="http://schemas.microsoft.com/office/drawing/2014/main" id="{557609B2-75EE-43E9-961C-472E6BC6D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8369248" y="4191533"/>
              <a:ext cx="516917" cy="755869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15EB4B-6CCC-4BD0-82C7-3B4BE67B3336}"/>
              </a:ext>
            </a:extLst>
          </p:cNvPr>
          <p:cNvSpPr txBox="1"/>
          <p:nvPr/>
        </p:nvSpPr>
        <p:spPr>
          <a:xfrm>
            <a:off x="346531" y="4835698"/>
            <a:ext cx="7288391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uk-UA" sz="900" b="1" dirty="0">
                <a:solidFill>
                  <a:schemeClr val="bg1"/>
                </a:solidFill>
                <a:latin typeface="Exo 2" panose="00000500000000000000" pitchFamily="2" charset="-52"/>
              </a:rPr>
              <a:t>Національний технічний університет </a:t>
            </a:r>
            <a:r>
              <a:rPr lang="uk-UA" sz="900" b="1" dirty="0" smtClean="0">
                <a:solidFill>
                  <a:schemeClr val="bg1"/>
                </a:solidFill>
                <a:latin typeface="Exo 2" panose="00000500000000000000" pitchFamily="2" charset="-52"/>
              </a:rPr>
              <a:t>України «Київський </a:t>
            </a:r>
            <a:r>
              <a:rPr lang="uk-UA" sz="900" b="1" dirty="0">
                <a:solidFill>
                  <a:schemeClr val="bg1"/>
                </a:solidFill>
                <a:latin typeface="Exo 2" panose="00000500000000000000" pitchFamily="2" charset="-52"/>
              </a:rPr>
              <a:t>політехнічний інститут імені Ігоря Сікорського»</a:t>
            </a:r>
            <a:endParaRPr lang="uk-UA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17322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(варіант 4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F5677773-CACD-4264-8FC3-1F34482548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48542" y="4189156"/>
            <a:ext cx="615078" cy="8228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F64A52D9-717C-47D9-A6A0-08FC2D02D8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4387" y="4534780"/>
            <a:ext cx="296688" cy="4338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BC27870-0C84-4FEB-AF83-6CCC33FC83AA}"/>
              </a:ext>
            </a:extLst>
          </p:cNvPr>
          <p:cNvSpPr txBox="1"/>
          <p:nvPr/>
        </p:nvSpPr>
        <p:spPr>
          <a:xfrm>
            <a:off x="571076" y="4578574"/>
            <a:ext cx="3546484" cy="346249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uk-UA" sz="900" b="1" dirty="0">
                <a:solidFill>
                  <a:srgbClr val="1B3A6E"/>
                </a:solidFill>
                <a:latin typeface="Exo 2" panose="00000500000000000000" pitchFamily="2" charset="-52"/>
              </a:rPr>
              <a:t>Національний технічний університет України</a:t>
            </a:r>
            <a:r>
              <a:rPr lang="en-US" sz="900" b="1" dirty="0">
                <a:solidFill>
                  <a:srgbClr val="1B3A6E"/>
                </a:solidFill>
                <a:latin typeface="Exo 2" panose="00000500000000000000" pitchFamily="2" charset="-52"/>
              </a:rPr>
              <a:t/>
            </a:r>
            <a:br>
              <a:rPr lang="en-US" sz="900" b="1" dirty="0">
                <a:solidFill>
                  <a:srgbClr val="1B3A6E"/>
                </a:solidFill>
                <a:latin typeface="Exo 2" panose="00000500000000000000" pitchFamily="2" charset="-52"/>
              </a:rPr>
            </a:br>
            <a:r>
              <a:rPr lang="uk-UA" sz="900" b="1" dirty="0">
                <a:solidFill>
                  <a:srgbClr val="1B3A6E"/>
                </a:solidFill>
                <a:latin typeface="Exo 2" panose="00000500000000000000" pitchFamily="2" charset="-52"/>
              </a:rPr>
              <a:t>«Київський політехнічний інститут імені Ігоря Сікорського»</a:t>
            </a:r>
            <a:endParaRPr lang="uk-UA" sz="900" b="1" dirty="0">
              <a:solidFill>
                <a:srgbClr val="1B3A6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71638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(варіант 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тексту 8">
            <a:extLst>
              <a:ext uri="{FF2B5EF4-FFF2-40B4-BE49-F238E27FC236}">
                <a16:creationId xmlns="" xmlns:a16="http://schemas.microsoft.com/office/drawing/2014/main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4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6" y="1040329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rgbClr val="1B3A6E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4" y="1494333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tx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F64A52D9-717C-47D9-A6A0-08FC2D02D8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99230" y="4341801"/>
            <a:ext cx="393100" cy="5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9818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(варіант 6)">
    <p:bg>
      <p:bgPr>
        <a:solidFill>
          <a:srgbClr val="1B3A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тексту 8">
            <a:extLst>
              <a:ext uri="{FF2B5EF4-FFF2-40B4-BE49-F238E27FC236}">
                <a16:creationId xmlns="" xmlns:a16="http://schemas.microsoft.com/office/drawing/2014/main" id="{94C71DEB-74A9-4A63-980D-DAEEF7A421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415" y="323254"/>
            <a:ext cx="5513640" cy="706245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 cap="all" baseline="0">
                <a:solidFill>
                  <a:schemeClr val="bg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ЗАГОЛОВКУ</a:t>
            </a:r>
          </a:p>
        </p:txBody>
      </p:sp>
      <p:sp>
        <p:nvSpPr>
          <p:cNvPr id="8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26" y="1040329"/>
            <a:ext cx="7417217" cy="311894"/>
          </a:xfrm>
        </p:spPr>
        <p:txBody>
          <a:bodyPr>
            <a:noAutofit/>
          </a:bodyPr>
          <a:lstStyle>
            <a:lvl1pPr marL="0" indent="0">
              <a:buNone/>
              <a:defRPr sz="1800" b="1" baseline="0">
                <a:solidFill>
                  <a:schemeClr val="bg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підзаголовок  або приберіть його</a:t>
            </a:r>
            <a:endParaRPr lang="uk-UA" dirty="0"/>
          </a:p>
        </p:txBody>
      </p:sp>
      <p:sp>
        <p:nvSpPr>
          <p:cNvPr id="10" name="Місце для тексту 8">
            <a:extLst>
              <a:ext uri="{FF2B5EF4-FFF2-40B4-BE49-F238E27FC236}">
                <a16:creationId xmlns="" xmlns:a16="http://schemas.microsoft.com/office/drawing/2014/main" id="{0690D500-945F-4439-98A0-8C2C10EF2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0164" y="1494333"/>
            <a:ext cx="7417217" cy="311894"/>
          </a:xfrm>
        </p:spPr>
        <p:txBody>
          <a:bodyPr>
            <a:normAutofit/>
          </a:bodyPr>
          <a:lstStyle>
            <a:lvl1pPr marL="0" indent="0">
              <a:buNone/>
              <a:defRPr sz="1400" b="0" baseline="0">
                <a:solidFill>
                  <a:schemeClr val="bg1"/>
                </a:solidFill>
                <a:latin typeface="Exo 2" panose="00000500000000000000" pitchFamily="2" charset="-52"/>
              </a:defRPr>
            </a:lvl1pPr>
          </a:lstStyle>
          <a:p>
            <a:pPr lvl="0"/>
            <a:r>
              <a:rPr lang="uk-UA" dirty="0" smtClean="0"/>
              <a:t>Відредагуйте текст слайду або вставте нове текстове поле</a:t>
            </a:r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F5677773-CACD-4264-8FC3-1F34482548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80050" y="4341801"/>
            <a:ext cx="429679" cy="57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96679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9D70C-6F48-4F50-B20B-1341D96BE651}" type="datetimeFigureOut">
              <a:rPr lang="uk-UA" smtClean="0"/>
              <a:pPr/>
              <a:t>07.11.2025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10132-4EBC-464A-8626-A9ACCFE78B70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="" xmlns:a16="http://schemas.microsoft.com/office/drawing/2014/main" id="{32279328-FA53-4D7A-BCE9-03349729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="" xmlns:a16="http://schemas.microsoft.com/office/drawing/2014/main" id="{980E75DA-89FC-4BF8-99EC-C09167CF1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uk-UA" dirty="0"/>
              <a:t>Відредагуйте стиль зразка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="" xmlns:a16="http://schemas.microsoft.com/office/drawing/2014/main" id="{522F5604-C4CE-44B9-9888-FDA854F32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D70C-6F48-4F50-B20B-1341D96BE651}" type="datetimeFigureOut">
              <a:rPr lang="uk-UA" smtClean="0"/>
              <a:pPr/>
              <a:t>07.11.2025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="" xmlns:a16="http://schemas.microsoft.com/office/drawing/2014/main" id="{6FD278C2-61B1-4305-BBB1-9BC8412C3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="" xmlns:a16="http://schemas.microsoft.com/office/drawing/2014/main" id="{3D1C5CEF-D24A-455A-864A-81B0C32B6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10132-4EBC-464A-8626-A9ACCFE78B70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xmlns="" val="143310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uk-UA" sz="2800" dirty="0" smtClean="0">
                <a:latin typeface="Rubik" pitchFamily="2" charset="-79"/>
                <a:cs typeface="Rubik" pitchFamily="2" charset="-79"/>
              </a:rPr>
              <a:t>Тематика</a:t>
            </a:r>
            <a:endParaRPr lang="uk-UA" sz="2800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251127" y="2499742"/>
            <a:ext cx="7417217" cy="311894"/>
          </a:xfrm>
        </p:spPr>
        <p:txBody>
          <a:bodyPr/>
          <a:lstStyle/>
          <a:p>
            <a:r>
              <a:rPr lang="uk-UA" sz="2400" dirty="0" smtClean="0">
                <a:latin typeface="Rubik" pitchFamily="2" charset="-79"/>
                <a:cs typeface="Rubik" pitchFamily="2" charset="-79"/>
              </a:rPr>
              <a:t>Актуальність теми</a:t>
            </a:r>
          </a:p>
          <a:p>
            <a:endParaRPr lang="uk-UA" sz="2400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251520" y="2859782"/>
            <a:ext cx="7704856" cy="720080"/>
          </a:xfrm>
        </p:spPr>
        <p:txBody>
          <a:bodyPr>
            <a:noAutofit/>
          </a:bodyPr>
          <a:lstStyle/>
          <a:p>
            <a:r>
              <a:rPr lang="ru-RU" sz="2000" dirty="0" err="1" smtClean="0"/>
              <a:t>Актуальність</a:t>
            </a:r>
            <a:r>
              <a:rPr lang="ru-RU" sz="2000" dirty="0" smtClean="0"/>
              <a:t> теми </a:t>
            </a:r>
            <a:r>
              <a:rPr lang="ru-RU" sz="2000" dirty="0" err="1" smtClean="0"/>
              <a:t>полягає</a:t>
            </a:r>
            <a:r>
              <a:rPr lang="ru-RU" sz="2000" dirty="0" smtClean="0"/>
              <a:t> у </a:t>
            </a:r>
            <a:r>
              <a:rPr lang="ru-RU" sz="2000" dirty="0" err="1" smtClean="0"/>
              <a:t>постійній</a:t>
            </a:r>
            <a:r>
              <a:rPr lang="ru-RU" sz="2000" dirty="0" smtClean="0"/>
              <a:t> </a:t>
            </a:r>
            <a:r>
              <a:rPr lang="ru-RU" sz="2000" dirty="0" err="1" smtClean="0"/>
              <a:t>потребі</a:t>
            </a:r>
            <a:r>
              <a:rPr lang="ru-RU" sz="2000" dirty="0" smtClean="0"/>
              <a:t> </a:t>
            </a:r>
            <a:r>
              <a:rPr lang="ru-RU" sz="2000" dirty="0" err="1" smtClean="0"/>
              <a:t>оновлення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інструментів</a:t>
            </a:r>
            <a:r>
              <a:rPr lang="ru-RU" sz="2000" dirty="0" smtClean="0"/>
              <a:t> </a:t>
            </a:r>
            <a:r>
              <a:rPr lang="ru-RU" sz="2000" dirty="0" err="1" smtClean="0"/>
              <a:t>і</a:t>
            </a:r>
            <a:r>
              <a:rPr lang="ru-RU" sz="2000" dirty="0" smtClean="0"/>
              <a:t> </a:t>
            </a:r>
            <a:r>
              <a:rPr lang="ru-RU" sz="2000" dirty="0" err="1" smtClean="0"/>
              <a:t>матеріалів</a:t>
            </a:r>
            <a:r>
              <a:rPr lang="ru-RU" sz="2000" dirty="0" smtClean="0"/>
              <a:t> для </a:t>
            </a:r>
            <a:r>
              <a:rPr lang="ru-RU" sz="2000" dirty="0" err="1" smtClean="0"/>
              <a:t>ефективного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викладання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сучасних</a:t>
            </a:r>
            <a:r>
              <a:rPr lang="ru-RU" sz="2000" dirty="0" smtClean="0"/>
              <a:t> </a:t>
            </a:r>
            <a:r>
              <a:rPr lang="ru-RU" sz="2000" dirty="0" err="1" smtClean="0"/>
              <a:t>технологій</a:t>
            </a:r>
            <a:r>
              <a:rPr lang="ru-RU" sz="2000" dirty="0" smtClean="0"/>
              <a:t> </a:t>
            </a:r>
            <a:r>
              <a:rPr lang="ru-RU" sz="2000" dirty="0" err="1" smtClean="0"/>
              <a:t>веброзробки</a:t>
            </a:r>
            <a:r>
              <a:rPr lang="ru-RU" sz="2000" dirty="0" smtClean="0"/>
              <a:t> на </a:t>
            </a:r>
            <a:r>
              <a:rPr lang="ru-RU" sz="2000" dirty="0" err="1" smtClean="0"/>
              <a:t>мові</a:t>
            </a:r>
            <a:r>
              <a:rPr lang="ru-RU" sz="2000" dirty="0" smtClean="0"/>
              <a:t> </a:t>
            </a:r>
            <a:r>
              <a:rPr lang="ru-RU" sz="2000" dirty="0" err="1" smtClean="0"/>
              <a:t>Go</a:t>
            </a:r>
            <a:endParaRPr lang="uk-UA" sz="2000" dirty="0"/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251520" y="843558"/>
            <a:ext cx="7417217" cy="31189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uk-UA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B3A6E"/>
                </a:solidFill>
                <a:effectLst/>
                <a:uLnTx/>
                <a:uFillTx/>
                <a:latin typeface="Rubik" pitchFamily="2" charset="-79"/>
                <a:cs typeface="Rubik" pitchFamily="2" charset="-79"/>
              </a:rPr>
              <a:t>Мета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uk-UA" sz="2400" b="1" i="0" u="none" strike="noStrike" kern="1200" cap="none" spc="0" normalizeH="0" baseline="0" noProof="0" dirty="0">
              <a:ln>
                <a:noFill/>
              </a:ln>
              <a:solidFill>
                <a:srgbClr val="1B3A6E"/>
              </a:solidFill>
              <a:effectLst/>
              <a:uLnTx/>
              <a:uFillTx/>
              <a:latin typeface="Rubik" pitchFamily="2" charset="-79"/>
              <a:cs typeface="Rubik" pitchFamily="2" charset="-79"/>
            </a:endParaRPr>
          </a:p>
        </p:txBody>
      </p:sp>
      <p:sp>
        <p:nvSpPr>
          <p:cNvPr id="6" name="Текст 3"/>
          <p:cNvSpPr txBox="1">
            <a:spLocks/>
          </p:cNvSpPr>
          <p:nvPr/>
        </p:nvSpPr>
        <p:spPr>
          <a:xfrm>
            <a:off x="251913" y="1203598"/>
            <a:ext cx="7704856" cy="72008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lvl="0" defTabSz="685800">
              <a:lnSpc>
                <a:spcPct val="90000"/>
              </a:lnSpc>
              <a:spcBef>
                <a:spcPts val="750"/>
              </a:spcBef>
            </a:pPr>
            <a:r>
              <a:rPr lang="ru-RU" sz="2000" dirty="0" err="1" smtClean="0"/>
              <a:t>Удосконалити</a:t>
            </a:r>
            <a:r>
              <a:rPr lang="ru-RU" sz="2000" dirty="0" smtClean="0"/>
              <a:t> та </a:t>
            </a:r>
            <a:r>
              <a:rPr lang="ru-RU" sz="2000" dirty="0" err="1" smtClean="0"/>
              <a:t>розширити</a:t>
            </a:r>
            <a:r>
              <a:rPr lang="ru-RU" sz="2000" dirty="0" smtClean="0"/>
              <a:t> </a:t>
            </a:r>
            <a:r>
              <a:rPr lang="ru-RU" sz="2000" dirty="0" err="1" smtClean="0"/>
              <a:t>навчально-методичний</a:t>
            </a:r>
            <a:r>
              <a:rPr lang="ru-RU" sz="2000" dirty="0" smtClean="0"/>
              <a:t> комплекс </a:t>
            </a:r>
            <a:r>
              <a:rPr lang="ru-RU" sz="2000" dirty="0" err="1" smtClean="0"/>
              <a:t>дисципліни</a:t>
            </a:r>
            <a:r>
              <a:rPr lang="ru-RU" sz="2000" dirty="0" smtClean="0"/>
              <a:t> “</a:t>
            </a:r>
            <a:r>
              <a:rPr lang="ru-RU" sz="2000" dirty="0" err="1" smtClean="0"/>
              <a:t>Програмування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вебзастосунків</a:t>
            </a:r>
            <a:r>
              <a:rPr lang="ru-RU" sz="2000" dirty="0" smtClean="0"/>
              <a:t>” </a:t>
            </a:r>
            <a:r>
              <a:rPr lang="ru-RU" sz="2000" dirty="0" err="1" smtClean="0"/>
              <a:t>мовою</a:t>
            </a:r>
            <a:r>
              <a:rPr lang="ru-RU" sz="2000" dirty="0" smtClean="0"/>
              <a:t> </a:t>
            </a:r>
            <a:r>
              <a:rPr lang="ru-RU" sz="2000" dirty="0" err="1" smtClean="0"/>
              <a:t>Go</a:t>
            </a:r>
            <a:endParaRPr kumimoji="0" lang="uk-UA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xo 2" panose="00000500000000000000" pitchFamily="2" charset="-5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uk-UA" sz="2800" dirty="0" smtClean="0">
                <a:latin typeface="Rubik" pitchFamily="2" charset="-79"/>
                <a:cs typeface="Rubik" pitchFamily="2" charset="-79"/>
              </a:rPr>
              <a:t>Об'єкт та предмет роботи</a:t>
            </a:r>
            <a:endParaRPr lang="uk-UA" sz="2800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251127" y="2499742"/>
            <a:ext cx="7417217" cy="311894"/>
          </a:xfrm>
        </p:spPr>
        <p:txBody>
          <a:bodyPr/>
          <a:lstStyle/>
          <a:p>
            <a:r>
              <a:rPr lang="uk-UA" sz="2400" dirty="0" smtClean="0">
                <a:latin typeface="Rubik" pitchFamily="2" charset="-79"/>
                <a:cs typeface="Rubik" pitchFamily="2" charset="-79"/>
              </a:rPr>
              <a:t>Предмет роботи</a:t>
            </a:r>
          </a:p>
          <a:p>
            <a:endParaRPr lang="uk-UA" sz="2400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251520" y="2859782"/>
            <a:ext cx="7704856" cy="720080"/>
          </a:xfrm>
        </p:spPr>
        <p:txBody>
          <a:bodyPr>
            <a:noAutofit/>
          </a:bodyPr>
          <a:lstStyle/>
          <a:p>
            <a:r>
              <a:rPr lang="ru-RU" sz="2000" dirty="0" err="1" smtClean="0"/>
              <a:t>Методи</a:t>
            </a:r>
            <a:r>
              <a:rPr lang="ru-RU" sz="2000" dirty="0" smtClean="0"/>
              <a:t> та </a:t>
            </a:r>
            <a:r>
              <a:rPr lang="ru-RU" sz="2000" dirty="0" err="1" smtClean="0"/>
              <a:t>програмні</a:t>
            </a:r>
            <a:r>
              <a:rPr lang="ru-RU" sz="2000" dirty="0" smtClean="0"/>
              <a:t> </a:t>
            </a:r>
            <a:r>
              <a:rPr lang="ru-RU" sz="2000" dirty="0" err="1" smtClean="0"/>
              <a:t>засоби</a:t>
            </a:r>
            <a:r>
              <a:rPr lang="ru-RU" sz="2000" dirty="0" smtClean="0"/>
              <a:t> </a:t>
            </a:r>
            <a:r>
              <a:rPr lang="ru-RU" sz="2000" dirty="0" err="1" smtClean="0"/>
              <a:t>створення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і</a:t>
            </a:r>
            <a:r>
              <a:rPr lang="ru-RU" sz="2000" dirty="0" smtClean="0"/>
              <a:t> </a:t>
            </a:r>
            <a:r>
              <a:rPr lang="ru-RU" sz="2000" dirty="0" err="1" smtClean="0"/>
              <a:t>використання</a:t>
            </a:r>
            <a:r>
              <a:rPr lang="ru-RU" sz="2000" dirty="0" smtClean="0"/>
              <a:t> в </a:t>
            </a:r>
            <a:r>
              <a:rPr lang="ru-RU" sz="2000" dirty="0" err="1" smtClean="0"/>
              <a:t>навчальній</a:t>
            </a:r>
            <a:r>
              <a:rPr lang="ru-RU" sz="2000" dirty="0" smtClean="0"/>
              <a:t> </a:t>
            </a:r>
            <a:r>
              <a:rPr lang="ru-RU" sz="2000" dirty="0" err="1" smtClean="0"/>
              <a:t>діяльності</a:t>
            </a:r>
            <a:r>
              <a:rPr lang="ru-RU" sz="2000" dirty="0" smtClean="0"/>
              <a:t> </a:t>
            </a:r>
            <a:r>
              <a:rPr lang="ru-RU" sz="2000" dirty="0" err="1" smtClean="0"/>
              <a:t>навчально-методичного</a:t>
            </a:r>
            <a:r>
              <a:rPr lang="ru-RU" sz="2000" dirty="0" smtClean="0"/>
              <a:t> комплексу "</a:t>
            </a:r>
            <a:r>
              <a:rPr lang="ru-RU" sz="2000" dirty="0" err="1" smtClean="0"/>
              <a:t>Програмування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вебзастосунків</a:t>
            </a:r>
            <a:r>
              <a:rPr lang="ru-RU" sz="2000" dirty="0" smtClean="0"/>
              <a:t>” </a:t>
            </a:r>
            <a:r>
              <a:rPr lang="ru-RU" sz="2000" dirty="0" err="1" smtClean="0"/>
              <a:t>мовою</a:t>
            </a:r>
            <a:r>
              <a:rPr lang="ru-RU" sz="2000" dirty="0" smtClean="0"/>
              <a:t> </a:t>
            </a:r>
            <a:r>
              <a:rPr lang="ru-RU" sz="2000" dirty="0" err="1" smtClean="0"/>
              <a:t>Gо</a:t>
            </a:r>
            <a:endParaRPr lang="uk-UA" sz="2000" dirty="0"/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251520" y="843558"/>
            <a:ext cx="7417217" cy="31189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lvl="0" defTabSz="685800">
              <a:lnSpc>
                <a:spcPct val="90000"/>
              </a:lnSpc>
              <a:spcBef>
                <a:spcPts val="750"/>
              </a:spcBef>
              <a:defRPr/>
            </a:pPr>
            <a:r>
              <a:rPr lang="uk-UA" sz="2400" b="1" dirty="0">
                <a:solidFill>
                  <a:srgbClr val="1B3A6E"/>
                </a:solidFill>
                <a:latin typeface="Rubik" pitchFamily="2" charset="-79"/>
                <a:cs typeface="Rubik" pitchFamily="2" charset="-79"/>
              </a:rPr>
              <a:t>Об’єкт роботи</a:t>
            </a:r>
          </a:p>
          <a:p>
            <a:pPr lvl="0" defTabSz="685800">
              <a:lnSpc>
                <a:spcPct val="90000"/>
              </a:lnSpc>
              <a:spcBef>
                <a:spcPts val="750"/>
              </a:spcBef>
              <a:defRPr/>
            </a:pPr>
            <a:endParaRPr lang="uk-UA" sz="2400" b="1" dirty="0">
              <a:solidFill>
                <a:srgbClr val="1B3A6E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6" name="Текст 3"/>
          <p:cNvSpPr txBox="1">
            <a:spLocks/>
          </p:cNvSpPr>
          <p:nvPr/>
        </p:nvSpPr>
        <p:spPr>
          <a:xfrm>
            <a:off x="251913" y="1203598"/>
            <a:ext cx="7704856" cy="72008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lvl="0" defTabSz="685800">
              <a:lnSpc>
                <a:spcPct val="90000"/>
              </a:lnSpc>
              <a:spcBef>
                <a:spcPts val="750"/>
              </a:spcBef>
            </a:pPr>
            <a:r>
              <a:rPr lang="ru-RU" sz="2000" dirty="0" err="1" smtClean="0"/>
              <a:t>Процеси</a:t>
            </a:r>
            <a:r>
              <a:rPr lang="ru-RU" sz="2000" dirty="0" smtClean="0"/>
              <a:t> </a:t>
            </a:r>
            <a:r>
              <a:rPr lang="ru-RU" sz="2000" dirty="0" err="1" smtClean="0"/>
              <a:t>створення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огранізаційно-медочиного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забезпечення</a:t>
            </a:r>
            <a:r>
              <a:rPr lang="ru-RU" sz="2000" dirty="0" smtClean="0"/>
              <a:t> </a:t>
            </a:r>
            <a:r>
              <a:rPr lang="ru-RU" sz="2000" dirty="0" err="1" smtClean="0"/>
              <a:t>освітніх</a:t>
            </a:r>
            <a:r>
              <a:rPr lang="ru-RU" sz="2000" dirty="0" smtClean="0"/>
              <a:t> </a:t>
            </a:r>
            <a:r>
              <a:rPr lang="ru-RU" sz="2000" dirty="0" err="1" smtClean="0"/>
              <a:t>компонентів</a:t>
            </a:r>
            <a:r>
              <a:rPr lang="ru-RU" sz="2000" dirty="0" smtClean="0"/>
              <a:t>  </a:t>
            </a:r>
            <a:r>
              <a:rPr lang="ru-RU" sz="2000" dirty="0" err="1" smtClean="0"/>
              <a:t>з</a:t>
            </a:r>
            <a:r>
              <a:rPr lang="ru-RU" sz="2000" dirty="0" smtClean="0"/>
              <a:t> </a:t>
            </a:r>
            <a:r>
              <a:rPr lang="ru-RU" sz="2000" dirty="0" err="1" smtClean="0"/>
              <a:t>інженерії</a:t>
            </a:r>
            <a:r>
              <a:rPr lang="ru-RU" sz="2000" dirty="0" smtClean="0"/>
              <a:t> </a:t>
            </a:r>
            <a:r>
              <a:rPr lang="ru-RU" sz="2000" dirty="0" err="1" smtClean="0"/>
              <a:t>програмного</a:t>
            </a:r>
            <a:r>
              <a:rPr lang="ru-RU" sz="2000" dirty="0" smtClean="0"/>
              <a:t> </a:t>
            </a:r>
            <a:r>
              <a:rPr lang="ru-RU" sz="2000" dirty="0" err="1" smtClean="0"/>
              <a:t>забезпечення</a:t>
            </a:r>
            <a:endParaRPr kumimoji="0" lang="uk-UA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xo 2" panose="00000500000000000000" pitchFamily="2" charset="-5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pi-presentation-pp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ПІ Презентація">
      <a:majorFont>
        <a:latin typeface="Exo 2"/>
        <a:ea typeface=""/>
        <a:cs typeface=""/>
      </a:majorFont>
      <a:minorFont>
        <a:latin typeface="Exo 2"/>
        <a:ea typeface=""/>
        <a:cs typeface="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kpi-presentation-pp</Template>
  <TotalTime>16</TotalTime>
  <Words>71</Words>
  <Application>Microsoft Office PowerPoint</Application>
  <PresentationFormat>Экран (16:9)</PresentationFormat>
  <Paragraphs>10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kpi-presentation-pp</vt:lpstr>
      <vt:lpstr>Слайд 1</vt:lpstr>
      <vt:lpstr>Слайд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Даніїл</dc:creator>
  <cp:lastModifiedBy>Даніїл</cp:lastModifiedBy>
  <cp:revision>6</cp:revision>
  <dcterms:created xsi:type="dcterms:W3CDTF">2025-11-02T18:33:22Z</dcterms:created>
  <dcterms:modified xsi:type="dcterms:W3CDTF">2025-11-07T06:56:02Z</dcterms:modified>
</cp:coreProperties>
</file>